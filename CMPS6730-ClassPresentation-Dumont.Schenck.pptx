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iqedVQHqSQMMc5ilRArs4hDSa+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C091737-8193-4426-AB1A-7C32F44F8D11}">
  <a:tblStyle styleId="{AC091737-8193-4426-AB1A-7C32F44F8D11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google.com/search?sca_esv=cc91aa7b516a412e&amp;rlz=1C1CHBF_enUS1119US1119&amp;sxsrf=AHTn8zrXB7fWvDgrjeMiitDxI6OKGs7Jqg%3A1745358251830&amp;q=information+retrieval&amp;sa=X&amp;sqi=2&amp;ved=2ahUKEwjpteyUzuyMAxVW_8kDHaLGM04QxccNegQIMRAB&amp;mstk=AUtExfCrs-hjr-OFaasgwaWcxrrgogtgUNWgy5-KwpaurH7lI7QpmwgDoc0D8w50Ip8KQaO5e-M_gGBVEnsKrvOGNCgc_YEtpFqHMhIcD34kU-kERHxPvHolJqDFQN_GvccigBr0mQqrTeA5p2nZcxOmQ2BDUrgNaL60GGNhg4Ki4zOCDQI&amp;csui=3" TargetMode="External"/><Relationship Id="rId3" Type="http://schemas.openxmlformats.org/officeDocument/2006/relationships/hyperlink" Target="https://www.google.com/search?sca_esv=cc91aa7b516a412e&amp;rlz=1C1CHBF_enUS1119US1119&amp;sxsrf=AHTn8zrXB7fWvDgrjeMiitDxI6OKGs7Jqg%3A1745358251830&amp;q=machine+learning&amp;sa=X&amp;sqi=2&amp;ved=2ahUKEwjpteyUzuyMAxVW_8kDHaLGM04QxccNegQIMRAC&amp;mstk=AUtExfCrs-hjr-OFaasgwaWcxrrgogtgUNWgy5-KwpaurH7lI7QpmwgDoc0D8w50Ip8KQaO5e-M_gGBVEnsKrvOGNCgc_YEtpFqHMhIcD34kU-kERHxPvHolJqDFQN_GvccigBr0mQqrTeA5p2nZcxOmQ2BDUrgNaL60GGNhg4Ki4zOCDQI&amp;csui=3" TargetMode="Externa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" name="Google Shape;4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TF-IDF = term frequency - inverse document frequency - </a:t>
            </a:r>
            <a:r>
              <a:rPr b="0" i="0" lang="en-US">
                <a:solidFill>
                  <a:srgbClr val="001D35"/>
                </a:solidFill>
                <a:latin typeface="Arial"/>
                <a:ea typeface="Arial"/>
                <a:cs typeface="Arial"/>
                <a:sym typeface="Arial"/>
              </a:rPr>
              <a:t>a numerical statistic that reflects the importance of a word within a document relative to a collection of documents. It's used in fields like </a:t>
            </a:r>
            <a:r>
              <a:rPr b="0" i="0" lang="en-US" u="sng">
                <a:solidFill>
                  <a:srgbClr val="001D35"/>
                </a:solidFill>
                <a:latin typeface="Arial"/>
                <a:ea typeface="Arial"/>
                <a:cs typeface="Arial"/>
                <a:sym typeface="Arial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information retrieval</a:t>
            </a:r>
            <a:r>
              <a:rPr b="0" i="0" lang="en-US">
                <a:solidFill>
                  <a:srgbClr val="001D35"/>
                </a:solidFill>
                <a:latin typeface="Arial"/>
                <a:ea typeface="Arial"/>
                <a:cs typeface="Arial"/>
                <a:sym typeface="Arial"/>
              </a:rPr>
              <a:t> and </a:t>
            </a:r>
            <a:r>
              <a:rPr b="0" i="0" lang="en-US" u="sng">
                <a:solidFill>
                  <a:srgbClr val="001D35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machine learning</a:t>
            </a:r>
            <a:r>
              <a:rPr b="0" i="0" lang="en-US">
                <a:solidFill>
                  <a:srgbClr val="001D35"/>
                </a:solidFill>
                <a:latin typeface="Arial"/>
                <a:ea typeface="Arial"/>
                <a:cs typeface="Arial"/>
                <a:sym typeface="Arial"/>
              </a:rPr>
              <a:t> to quantify the relevance of words in a document. BERT – bidirectional encoding representations from transformers</a:t>
            </a:r>
            <a:endParaRPr/>
          </a:p>
        </p:txBody>
      </p:sp>
      <p:sp>
        <p:nvSpPr>
          <p:cNvPr id="54" name="Google Shape;5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" name="Google Shape;6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>
                <a:solidFill>
                  <a:srgbClr val="001D35"/>
                </a:solidFill>
                <a:latin typeface="Arial"/>
                <a:ea typeface="Arial"/>
                <a:cs typeface="Arial"/>
                <a:sym typeface="Arial"/>
              </a:rPr>
              <a:t>Latent Dirichlet Allocation (LDA) can be used in sentiment analysis to identify the underlying topics and sentiments associated with a collection of texts. By analyzing the word distributions within each topic, you can gain insights into the general sentiment expressed in the text, </a:t>
            </a:r>
            <a:endParaRPr/>
          </a:p>
        </p:txBody>
      </p:sp>
      <p:sp>
        <p:nvSpPr>
          <p:cNvPr id="76" name="Google Shape;7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rPr>
              <a:t>NLTK VADER: It's </a:t>
            </a:r>
            <a:r>
              <a:rPr b="0" i="0" lang="en-US">
                <a:solidFill>
                  <a:srgbClr val="040C28"/>
                </a:solidFill>
                <a:latin typeface="Arial"/>
                <a:ea typeface="Arial"/>
                <a:cs typeface="Arial"/>
                <a:sym typeface="Arial"/>
              </a:rPr>
              <a:t>a lexicon and rule-based feeling analysis instrument that is explicitly sensitive to suppositions communicated in web-based media</a:t>
            </a:r>
            <a:r>
              <a:rPr b="0" i="0" lang="en-US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rPr>
              <a:t>. VADER utilizes a mix of lexical highlights (e.g., words) that are, for the most part, marked by their semantic direction as one or the other positive or negative.</a:t>
            </a:r>
            <a:endParaRPr/>
          </a:p>
        </p:txBody>
      </p:sp>
      <p:sp>
        <p:nvSpPr>
          <p:cNvPr id="83" name="Google Shape;8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517d0721d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g3517d0721d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F1 weighted average is a robust metric for evaluating sentiment classification models, especially when dealing with imbalanced datasets, as it combines the precision-recall balance of the F1 score with a weighting scheme based on class prevalence.</a:t>
            </a:r>
            <a:r>
              <a:rPr b="1" lang="en-US"/>
              <a:t> Micro Avg:</a:t>
            </a:r>
            <a:r>
              <a:rPr lang="en-US"/>
              <a:t> Aggregates counts globally (instance-level average). Favors larger classes. </a:t>
            </a:r>
            <a:r>
              <a:rPr b="1" lang="en-US"/>
              <a:t>Macro Avg:</a:t>
            </a:r>
            <a:r>
              <a:rPr lang="en-US"/>
              <a:t> Averages per-class scores (class-level average). Treats all classes equally. </a:t>
            </a:r>
            <a:r>
              <a:rPr b="1" lang="en-US"/>
              <a:t>Weighted Avg (Weighted F1):</a:t>
            </a:r>
            <a:r>
              <a:rPr lang="en-US"/>
              <a:t> Averages per-class scores, weighted by class size (class-level average adjusted for imbalance).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F1 weighted average is a robust metric for evaluating sentiment classification models, especially when dealing with imbalanced datasets, as it combines the precision-recall balance of the F1 score with a weighting scheme based on class prevalence</a:t>
            </a:r>
            <a:endParaRPr/>
          </a:p>
        </p:txBody>
      </p:sp>
      <p:sp>
        <p:nvSpPr>
          <p:cNvPr id="116" name="Google Shape;11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517d0721d7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517d0721d7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g3517d0721d7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17d0721d7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517d0721d7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F1 weighted average is a robust metric for evaluating sentiment classification models, especially when dealing with imbalanced datasets, as it combines the precision-recall balance of the F1 score with a weighting scheme based on class prevalence</a:t>
            </a:r>
            <a:endParaRPr/>
          </a:p>
        </p:txBody>
      </p:sp>
      <p:sp>
        <p:nvSpPr>
          <p:cNvPr id="133" name="Google Shape;133;g3517d0721d7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7"/>
          <p:cNvSpPr txBox="1"/>
          <p:nvPr>
            <p:ph type="ctrTitle"/>
          </p:nvPr>
        </p:nvSpPr>
        <p:spPr>
          <a:xfrm>
            <a:off x="1524000" y="2249487"/>
            <a:ext cx="9144000" cy="10064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5C4F"/>
              </a:buClr>
              <a:buSzPts val="6600"/>
              <a:buFont typeface="Arial"/>
              <a:buNone/>
              <a:defRPr b="1" i="0" sz="6600">
                <a:solidFill>
                  <a:srgbClr val="215C4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" type="subTitle"/>
          </p:nvPr>
        </p:nvSpPr>
        <p:spPr>
          <a:xfrm>
            <a:off x="1524000" y="3231943"/>
            <a:ext cx="9144000" cy="1790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232"/>
              </a:buClr>
              <a:buSzPts val="2400"/>
              <a:buNone/>
              <a:defRPr b="0" i="0" sz="2400">
                <a:solidFill>
                  <a:srgbClr val="33323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2F2D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2F2D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2F2D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2F2D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8"/>
          <p:cNvSpPr txBox="1"/>
          <p:nvPr>
            <p:ph type="title"/>
          </p:nvPr>
        </p:nvSpPr>
        <p:spPr>
          <a:xfrm>
            <a:off x="1302026" y="365125"/>
            <a:ext cx="972047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5C4F"/>
              </a:buClr>
              <a:buSzPts val="4400"/>
              <a:buFont typeface="Arial"/>
              <a:buNone/>
              <a:defRPr b="1" i="0">
                <a:solidFill>
                  <a:srgbClr val="215C4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8"/>
          <p:cNvSpPr txBox="1"/>
          <p:nvPr>
            <p:ph idx="1" type="body"/>
          </p:nvPr>
        </p:nvSpPr>
        <p:spPr>
          <a:xfrm>
            <a:off x="1302024" y="1825625"/>
            <a:ext cx="972047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232"/>
              </a:buClr>
              <a:buSzPts val="2800"/>
              <a:buChar char="•"/>
              <a:defRPr>
                <a:solidFill>
                  <a:srgbClr val="33323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232"/>
              </a:buClr>
              <a:buSzPts val="2400"/>
              <a:buChar char="•"/>
              <a:defRPr>
                <a:solidFill>
                  <a:srgbClr val="33323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232"/>
              </a:buClr>
              <a:buSzPts val="2000"/>
              <a:buChar char="•"/>
              <a:defRPr>
                <a:solidFill>
                  <a:srgbClr val="33323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232"/>
              </a:buClr>
              <a:buSzPts val="1800"/>
              <a:buChar char="•"/>
              <a:defRPr>
                <a:solidFill>
                  <a:srgbClr val="33323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232"/>
              </a:buClr>
              <a:buSzPts val="1800"/>
              <a:buChar char="•"/>
              <a:defRPr>
                <a:solidFill>
                  <a:srgbClr val="33323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9"/>
          <p:cNvSpPr txBox="1"/>
          <p:nvPr>
            <p:ph type="title"/>
          </p:nvPr>
        </p:nvSpPr>
        <p:spPr>
          <a:xfrm>
            <a:off x="1300480" y="1709738"/>
            <a:ext cx="1004697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7885"/>
              </a:buClr>
              <a:buSzPts val="6000"/>
              <a:buFont typeface="Arial"/>
              <a:buNone/>
              <a:defRPr sz="6000">
                <a:solidFill>
                  <a:srgbClr val="20788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" type="body"/>
          </p:nvPr>
        </p:nvSpPr>
        <p:spPr>
          <a:xfrm>
            <a:off x="1300480" y="4589463"/>
            <a:ext cx="1004697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E2F2D"/>
              </a:buClr>
              <a:buSzPts val="2400"/>
              <a:buNone/>
              <a:defRPr sz="2400">
                <a:solidFill>
                  <a:srgbClr val="2E2F2D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 txBox="1"/>
          <p:nvPr>
            <p:ph type="title"/>
          </p:nvPr>
        </p:nvSpPr>
        <p:spPr>
          <a:xfrm>
            <a:off x="1239520" y="365125"/>
            <a:ext cx="942848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5C4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" type="body"/>
          </p:nvPr>
        </p:nvSpPr>
        <p:spPr>
          <a:xfrm>
            <a:off x="1239520" y="1825625"/>
            <a:ext cx="478028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E2F2D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2F2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2F2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2F2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2F2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2" type="body"/>
          </p:nvPr>
        </p:nvSpPr>
        <p:spPr>
          <a:xfrm>
            <a:off x="6172200" y="1825625"/>
            <a:ext cx="44958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E2F2D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2F2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2F2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2F2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2F2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1"/>
          <p:cNvSpPr txBox="1"/>
          <p:nvPr>
            <p:ph type="title"/>
          </p:nvPr>
        </p:nvSpPr>
        <p:spPr>
          <a:xfrm>
            <a:off x="1524000" y="365125"/>
            <a:ext cx="9144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5C4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" type="body"/>
          </p:nvPr>
        </p:nvSpPr>
        <p:spPr>
          <a:xfrm>
            <a:off x="1524000" y="1681163"/>
            <a:ext cx="4473575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07885"/>
              </a:buClr>
              <a:buSzPts val="2400"/>
              <a:buNone/>
              <a:defRPr b="0" i="0" sz="2400">
                <a:solidFill>
                  <a:srgbClr val="20788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2F2D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2F2D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2F2D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2F2D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9" name="Google Shape;29;p21"/>
          <p:cNvSpPr txBox="1"/>
          <p:nvPr>
            <p:ph idx="2" type="body"/>
          </p:nvPr>
        </p:nvSpPr>
        <p:spPr>
          <a:xfrm>
            <a:off x="1524000" y="2505075"/>
            <a:ext cx="4473575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E2F2D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2F2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2F2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2F2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2F2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3" type="body"/>
          </p:nvPr>
        </p:nvSpPr>
        <p:spPr>
          <a:xfrm>
            <a:off x="6172200" y="1681163"/>
            <a:ext cx="44958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07885"/>
              </a:buClr>
              <a:buSzPts val="2400"/>
              <a:buNone/>
              <a:defRPr b="0" i="0" sz="2400">
                <a:solidFill>
                  <a:srgbClr val="20788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2F2D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2F2D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2F2D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2F2D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1" name="Google Shape;31;p21"/>
          <p:cNvSpPr txBox="1"/>
          <p:nvPr>
            <p:ph idx="4" type="body"/>
          </p:nvPr>
        </p:nvSpPr>
        <p:spPr>
          <a:xfrm>
            <a:off x="6172200" y="2505075"/>
            <a:ext cx="449580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E2F2D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2F2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2F2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2F2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2F2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2"/>
          <p:cNvSpPr txBox="1"/>
          <p:nvPr>
            <p:ph type="title"/>
          </p:nvPr>
        </p:nvSpPr>
        <p:spPr>
          <a:xfrm>
            <a:off x="1239520" y="365125"/>
            <a:ext cx="1011428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5C4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4"/>
          <p:cNvSpPr txBox="1"/>
          <p:nvPr>
            <p:ph type="title"/>
          </p:nvPr>
        </p:nvSpPr>
        <p:spPr>
          <a:xfrm>
            <a:off x="1198880" y="457200"/>
            <a:ext cx="357314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5C4F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4"/>
          <p:cNvSpPr txBox="1"/>
          <p:nvPr>
            <p:ph idx="1" type="body"/>
          </p:nvPr>
        </p:nvSpPr>
        <p:spPr>
          <a:xfrm>
            <a:off x="5183188" y="987425"/>
            <a:ext cx="5809932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E2F2D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2F2D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2F2D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2F2D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2F2D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8" name="Google Shape;38;p24"/>
          <p:cNvSpPr txBox="1"/>
          <p:nvPr>
            <p:ph idx="2" type="body"/>
          </p:nvPr>
        </p:nvSpPr>
        <p:spPr>
          <a:xfrm>
            <a:off x="1198880" y="2057400"/>
            <a:ext cx="357314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07885"/>
              </a:buClr>
              <a:buSzPts val="1600"/>
              <a:buNone/>
              <a:defRPr b="0" i="0" sz="1600">
                <a:solidFill>
                  <a:srgbClr val="20788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2F2D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2F2D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2F2D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2F2D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/>
          <p:nvPr>
            <p:ph type="title"/>
          </p:nvPr>
        </p:nvSpPr>
        <p:spPr>
          <a:xfrm>
            <a:off x="1259840" y="457200"/>
            <a:ext cx="351218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5C4F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5"/>
          <p:cNvSpPr/>
          <p:nvPr>
            <p:ph idx="2" type="pic"/>
          </p:nvPr>
        </p:nvSpPr>
        <p:spPr>
          <a:xfrm>
            <a:off x="5183188" y="987425"/>
            <a:ext cx="5748972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25"/>
          <p:cNvSpPr txBox="1"/>
          <p:nvPr>
            <p:ph idx="1" type="body"/>
          </p:nvPr>
        </p:nvSpPr>
        <p:spPr>
          <a:xfrm>
            <a:off x="1259840" y="2057400"/>
            <a:ext cx="351218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07885"/>
              </a:buClr>
              <a:buSzPts val="1600"/>
              <a:buNone/>
              <a:defRPr b="0" i="0" sz="1600">
                <a:solidFill>
                  <a:srgbClr val="20788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2F2D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2F2D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2F2D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2F2D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9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hite background with lines&#10;&#10;Description automatically generated" id="10" name="Google Shape;10;p1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61844" y="-34787"/>
            <a:ext cx="12315687" cy="692757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6"/>
          <p:cNvSpPr txBox="1"/>
          <p:nvPr>
            <p:ph type="title"/>
          </p:nvPr>
        </p:nvSpPr>
        <p:spPr>
          <a:xfrm>
            <a:off x="1239520" y="365125"/>
            <a:ext cx="1011428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5C4F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215C4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" type="body"/>
          </p:nvPr>
        </p:nvSpPr>
        <p:spPr>
          <a:xfrm>
            <a:off x="1239520" y="1825625"/>
            <a:ext cx="1011428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E2F2D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2E2F2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2F2D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2E2F2D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2F2D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2E2F2D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2F2D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2E2F2D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2F2D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2E2F2D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hyperlink" Target="https://sciforum.net/paper/view/20914" TargetMode="External"/><Relationship Id="rId10" Type="http://schemas.openxmlformats.org/officeDocument/2006/relationships/hyperlink" Target="https://sciforum.net/paper/view/20914" TargetMode="External"/><Relationship Id="rId13" Type="http://schemas.openxmlformats.org/officeDocument/2006/relationships/hyperlink" Target="https://cdr.lib.unc.edu/downloads/4f16c8090?locale=en" TargetMode="External"/><Relationship Id="rId12" Type="http://schemas.openxmlformats.org/officeDocument/2006/relationships/hyperlink" Target="https://cdr.lib.unc.edu/downloads/4f16c8090?locale=en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mdpi.com/2504-2289/8/11/141" TargetMode="External"/><Relationship Id="rId4" Type="http://schemas.openxmlformats.org/officeDocument/2006/relationships/hyperlink" Target="https://www.mdpi.com/2504-2289/8/11/141" TargetMode="External"/><Relationship Id="rId9" Type="http://schemas.openxmlformats.org/officeDocument/2006/relationships/hyperlink" Target="https://www.tandfonline.com/doi/abs/10.1080/1528008X.2016.1250243?casa_token=3343pqRoCCwAAAAA:nULDsc5QgFROIP2shCOffBtXiwK_DoOktl2cm0OvD5CdNiU9nCmnH_mOKjlzP-yrIPv5Cfo4SSoumw" TargetMode="External"/><Relationship Id="rId5" Type="http://schemas.openxmlformats.org/officeDocument/2006/relationships/hyperlink" Target="https://www.tandfonline.com/doi/abs/10.1080/12460125.2020.1864106" TargetMode="External"/><Relationship Id="rId6" Type="http://schemas.openxmlformats.org/officeDocument/2006/relationships/hyperlink" Target="https://www.tandfonline.com/doi/abs/10.1080/12460125.2020.1864106" TargetMode="External"/><Relationship Id="rId7" Type="http://schemas.openxmlformats.org/officeDocument/2006/relationships/hyperlink" Target="https://dukestatsci.github.io/thesis-sp18-duan-sentiment/" TargetMode="External"/><Relationship Id="rId8" Type="http://schemas.openxmlformats.org/officeDocument/2006/relationships/hyperlink" Target="https://dukestatsci.github.io/thesis-sp18-duan-sentiment/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/>
          <p:cNvSpPr txBox="1"/>
          <p:nvPr>
            <p:ph type="ctrTitle"/>
          </p:nvPr>
        </p:nvSpPr>
        <p:spPr>
          <a:xfrm>
            <a:off x="1524000" y="2249487"/>
            <a:ext cx="9144000" cy="10064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5C4F"/>
              </a:buClr>
              <a:buSzPct val="100000"/>
              <a:buFont typeface="Arial"/>
              <a:buNone/>
            </a:pPr>
            <a:r>
              <a:rPr lang="en-US"/>
              <a:t>A Restaurant Review Multi-Label Sentiment Classifier</a:t>
            </a:r>
            <a:endParaRPr/>
          </a:p>
        </p:txBody>
      </p:sp>
      <p:sp>
        <p:nvSpPr>
          <p:cNvPr id="48" name="Google Shape;48;p1"/>
          <p:cNvSpPr txBox="1"/>
          <p:nvPr>
            <p:ph idx="1" type="subTitle"/>
          </p:nvPr>
        </p:nvSpPr>
        <p:spPr>
          <a:xfrm>
            <a:off x="1524000" y="3231943"/>
            <a:ext cx="9144000" cy="1790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232"/>
              </a:buClr>
              <a:buSzPts val="2400"/>
              <a:buNone/>
            </a:pPr>
            <a:r>
              <a:rPr lang="en-US"/>
              <a:t>04/22/2025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232"/>
              </a:buClr>
              <a:buSzPts val="2400"/>
              <a:buNone/>
            </a:pPr>
            <a:r>
              <a:rPr lang="en-US"/>
              <a:t>H. Jacob Schenck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232"/>
              </a:buClr>
              <a:buSzPts val="2400"/>
              <a:buNone/>
            </a:pPr>
            <a:r>
              <a:rPr lang="en-US"/>
              <a:t>Aaron Dumont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232"/>
              </a:buClr>
              <a:buSzPts val="2400"/>
              <a:buNone/>
            </a:pPr>
            <a:r>
              <a:rPr lang="en-US"/>
              <a:t>CMPS 6730</a:t>
            </a:r>
            <a:endParaRPr/>
          </a:p>
        </p:txBody>
      </p:sp>
      <p:pic>
        <p:nvPicPr>
          <p:cNvPr descr="Hell's Kitchen - Plugged In" id="49" name="Google Shape;4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5381" y="3595979"/>
            <a:ext cx="3076970" cy="20591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o the Stars and Beyond" id="50" name="Google Shape;5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12352" y="3595979"/>
            <a:ext cx="3014869" cy="2059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"/>
          <p:cNvSpPr txBox="1"/>
          <p:nvPr>
            <p:ph type="title"/>
          </p:nvPr>
        </p:nvSpPr>
        <p:spPr>
          <a:xfrm>
            <a:off x="1302026" y="365125"/>
            <a:ext cx="972047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5C4F"/>
              </a:buClr>
              <a:buSzPts val="4400"/>
              <a:buFont typeface="Arial"/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57" name="Google Shape;57;p2"/>
          <p:cNvSpPr txBox="1"/>
          <p:nvPr>
            <p:ph idx="1" type="body"/>
          </p:nvPr>
        </p:nvSpPr>
        <p:spPr>
          <a:xfrm>
            <a:off x="1302024" y="1825625"/>
            <a:ext cx="972047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232"/>
              </a:buClr>
              <a:buSzPts val="2800"/>
              <a:buChar char="•"/>
            </a:pPr>
            <a:r>
              <a:rPr b="1" lang="en-US"/>
              <a:t>Deliverable</a:t>
            </a:r>
            <a:r>
              <a:rPr lang="en-US"/>
              <a:t>: We built a multi-label sentiment classifier for restaurant reviews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232"/>
              </a:buClr>
              <a:buSzPts val="2800"/>
              <a:buChar char="•"/>
            </a:pPr>
            <a:r>
              <a:rPr b="1" lang="en-US"/>
              <a:t>Goal</a:t>
            </a:r>
            <a:r>
              <a:rPr lang="en-US"/>
              <a:t>: Analyze sentiment for overall reviews and specific aspects (food, service, ambiance, price, context) to provide timely feedback for restaurants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232"/>
              </a:buClr>
              <a:buSzPts val="2800"/>
              <a:buChar char="•"/>
            </a:pPr>
            <a:r>
              <a:rPr b="1" lang="en-US"/>
              <a:t>Approach</a:t>
            </a:r>
            <a:r>
              <a:rPr lang="en-US"/>
              <a:t>: Using keyword spotting for aspect identification and data from the Yelp open database, we compared a TF-IDF + Logistic regression baseline model with a fine-tuned DistilBERT transformer model to predict sentiment for the 5 aspects and an overall review sentiment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"/>
          <p:cNvSpPr txBox="1"/>
          <p:nvPr>
            <p:ph type="title"/>
          </p:nvPr>
        </p:nvSpPr>
        <p:spPr>
          <a:xfrm>
            <a:off x="1302026" y="365125"/>
            <a:ext cx="972047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5C4F"/>
              </a:buClr>
              <a:buSzPts val="4400"/>
              <a:buFont typeface="Arial"/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63" name="Google Shape;63;p3"/>
          <p:cNvSpPr txBox="1"/>
          <p:nvPr>
            <p:ph idx="1" type="body"/>
          </p:nvPr>
        </p:nvSpPr>
        <p:spPr>
          <a:xfrm>
            <a:off x="1302024" y="1825625"/>
            <a:ext cx="972047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232"/>
              </a:buClr>
              <a:buSzPts val="2800"/>
              <a:buChar char="•"/>
            </a:pPr>
            <a:r>
              <a:rPr b="1" lang="en-US"/>
              <a:t>Conclusions: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232"/>
              </a:buClr>
              <a:buSzPts val="2400"/>
              <a:buChar char="•"/>
            </a:pPr>
            <a:r>
              <a:rPr lang="en-US"/>
              <a:t>The fine-tuned DistilBERT model significantly outperformed the baseline model in classifying sentiment across multiple aspects and overall sentiment</a:t>
            </a:r>
            <a:endParaRPr/>
          </a:p>
        </p:txBody>
      </p:sp>
      <p:pic>
        <p:nvPicPr>
          <p:cNvPr descr="NLP: Investigation into Transformer self-attention building blocks, and the  effects of pretraining. | by Suvasis Mukherjee | Medium" id="64" name="Google Shape;6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8422" y="3713356"/>
            <a:ext cx="3340813" cy="25985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entiment Analysis – What Is It and Why Does It Matter?" id="65" name="Google Shape;6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35253" y="3429000"/>
            <a:ext cx="5648325" cy="282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 txBox="1"/>
          <p:nvPr>
            <p:ph type="title"/>
          </p:nvPr>
        </p:nvSpPr>
        <p:spPr>
          <a:xfrm>
            <a:off x="1302026" y="365125"/>
            <a:ext cx="972047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5C4F"/>
              </a:buClr>
              <a:buSzPts val="4400"/>
              <a:buFont typeface="Arial"/>
              <a:buNone/>
            </a:pPr>
            <a:r>
              <a:rPr lang="en-US"/>
              <a:t>Introduction: Problem &amp; Importance</a:t>
            </a:r>
            <a:endParaRPr/>
          </a:p>
        </p:txBody>
      </p:sp>
      <p:sp>
        <p:nvSpPr>
          <p:cNvPr id="71" name="Google Shape;71;p4"/>
          <p:cNvSpPr txBox="1"/>
          <p:nvPr>
            <p:ph idx="1" type="body"/>
          </p:nvPr>
        </p:nvSpPr>
        <p:spPr>
          <a:xfrm>
            <a:off x="1302024" y="1825625"/>
            <a:ext cx="972047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232"/>
              </a:buClr>
              <a:buSzPts val="2800"/>
              <a:buChar char="•"/>
            </a:pPr>
            <a:r>
              <a:rPr b="1" lang="en-US"/>
              <a:t>Problem:</a:t>
            </a:r>
            <a:r>
              <a:rPr lang="en-US"/>
              <a:t> There is a need for granular understanding of customer opinions beyond simple positive/negative scores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232"/>
              </a:buClr>
              <a:buSzPts val="2400"/>
              <a:buChar char="•"/>
            </a:pPr>
            <a:r>
              <a:rPr lang="en-US"/>
              <a:t>Restaurants need detailed feedback on specific areas as well as a reliable overall sentiment assessment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232"/>
              </a:buClr>
              <a:buSzPts val="2800"/>
              <a:buChar char="•"/>
            </a:pPr>
            <a:r>
              <a:rPr b="1" lang="en-US"/>
              <a:t>Importance: </a:t>
            </a:r>
            <a:r>
              <a:rPr lang="en-US"/>
              <a:t>The restaurant industry is highly competitive and reviews strongly influence success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232"/>
              </a:buClr>
              <a:buSzPts val="2400"/>
              <a:buChar char="•"/>
            </a:pPr>
            <a:r>
              <a:rPr lang="en-US"/>
              <a:t>Granular and overall sentiment feedback facilitates continuous improvement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232"/>
              </a:buClr>
              <a:buSzPts val="2400"/>
              <a:buChar char="•"/>
            </a:pPr>
            <a:r>
              <a:rPr lang="en-US"/>
              <a:t>Our classifier provides this detailed breakdown and overall score</a:t>
            </a:r>
            <a:endParaRPr/>
          </a:p>
        </p:txBody>
      </p:sp>
      <p:pic>
        <p:nvPicPr>
          <p:cNvPr descr="Food Network Cutthroat Kitchen w/ Alton Brown | Slap Yo' Daddy BBQ" id="72" name="Google Shape;7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9803" y="5417456"/>
            <a:ext cx="2696474" cy="1519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 txBox="1"/>
          <p:nvPr>
            <p:ph type="title"/>
          </p:nvPr>
        </p:nvSpPr>
        <p:spPr>
          <a:xfrm>
            <a:off x="1302026" y="365125"/>
            <a:ext cx="972047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5C4F"/>
              </a:buClr>
              <a:buSzPts val="4400"/>
              <a:buFont typeface="Arial"/>
              <a:buNone/>
            </a:pPr>
            <a:r>
              <a:rPr lang="en-US"/>
              <a:t>Background/Related Work</a:t>
            </a:r>
            <a:endParaRPr/>
          </a:p>
        </p:txBody>
      </p:sp>
      <p:sp>
        <p:nvSpPr>
          <p:cNvPr id="79" name="Google Shape;79;p5"/>
          <p:cNvSpPr txBox="1"/>
          <p:nvPr>
            <p:ph idx="1" type="body"/>
          </p:nvPr>
        </p:nvSpPr>
        <p:spPr>
          <a:xfrm>
            <a:off x="1302024" y="1825625"/>
            <a:ext cx="972047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232"/>
              </a:buClr>
              <a:buSzPct val="100000"/>
              <a:buChar char="•"/>
            </a:pPr>
            <a:r>
              <a:rPr lang="en-US"/>
              <a:t>Our project builds upon existing research in Aspect-Based Sentiment Analysis (ABSA)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232"/>
              </a:buClr>
              <a:buSzPct val="100000"/>
              <a:buChar char="•"/>
            </a:pPr>
            <a:r>
              <a:rPr lang="en-US"/>
              <a:t>We utilized established aspects (food, service, ambiance, price) and included the emerging aspect of context (e.g. birthday, anniversary, etc)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232"/>
              </a:buClr>
              <a:buSzPct val="100000"/>
              <a:buChar char="•"/>
            </a:pPr>
            <a:r>
              <a:rPr lang="en-US"/>
              <a:t>We leveraged a transformer model aligning with recent trends showing their effectiveness for ABSA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232"/>
              </a:buClr>
              <a:buSzPct val="100000"/>
              <a:buChar char="•"/>
            </a:pPr>
            <a:r>
              <a:rPr lang="en-US"/>
              <a:t>We initially focused on the New Orleans area but expanded to include all data in the dataset and implemented a direct multi-output transformer classification (5 aspects+overall) unlike most prior work using techniques like LDA or Naïve Bayes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232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 txBox="1"/>
          <p:nvPr>
            <p:ph type="title"/>
          </p:nvPr>
        </p:nvSpPr>
        <p:spPr>
          <a:xfrm>
            <a:off x="1302026" y="365125"/>
            <a:ext cx="972047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5C4F"/>
              </a:buClr>
              <a:buSzPts val="4400"/>
              <a:buFont typeface="Arial"/>
              <a:buNone/>
            </a:pPr>
            <a:r>
              <a:rPr lang="en-US"/>
              <a:t>Approach</a:t>
            </a:r>
            <a:endParaRPr/>
          </a:p>
        </p:txBody>
      </p:sp>
      <p:sp>
        <p:nvSpPr>
          <p:cNvPr id="86" name="Google Shape;86;p6"/>
          <p:cNvSpPr txBox="1"/>
          <p:nvPr>
            <p:ph idx="1" type="body"/>
          </p:nvPr>
        </p:nvSpPr>
        <p:spPr>
          <a:xfrm>
            <a:off x="1302024" y="1825625"/>
            <a:ext cx="972047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232"/>
              </a:buClr>
              <a:buSzPct val="100000"/>
              <a:buChar char="•"/>
            </a:pPr>
            <a:r>
              <a:rPr lang="en-US"/>
              <a:t>Data Source: Yelp Open Dataset (reviews &amp; businesses)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232"/>
              </a:buClr>
              <a:buSzPct val="100000"/>
              <a:buChar char="•"/>
            </a:pPr>
            <a:r>
              <a:rPr lang="en-US"/>
              <a:t>Filtering: Initially focused on New Orleans area restaurant reviews between 01/2019 and 12/2024 (28, 377) but then expanded to all reviews (~1.5 million) after text preprocessing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232"/>
              </a:buClr>
              <a:buSzPct val="100000"/>
              <a:buChar char="•"/>
            </a:pPr>
            <a:r>
              <a:rPr lang="en-US"/>
              <a:t>Aspect identification: Defined 5 aspects with keyword lists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232"/>
              </a:buClr>
              <a:buSzPct val="100000"/>
              <a:buChar char="•"/>
            </a:pPr>
            <a:r>
              <a:rPr lang="en-US"/>
              <a:t>Sentences classified based on keyword counts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232"/>
              </a:buClr>
              <a:buSzPct val="100000"/>
              <a:buChar char="•"/>
            </a:pPr>
            <a:r>
              <a:rPr lang="en-US"/>
              <a:t>Sentiment scoring (initial): NLTK VADER used to calculate compound sentiment scores for each sentence and for the overall review.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232"/>
              </a:buClr>
              <a:buSzPct val="100000"/>
              <a:buChar char="•"/>
            </a:pPr>
            <a:r>
              <a:rPr lang="en-US"/>
              <a:t>Weighted scores calculated per aspect based on sentence proportion and sentiment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"/>
          <p:cNvSpPr txBox="1"/>
          <p:nvPr>
            <p:ph type="title"/>
          </p:nvPr>
        </p:nvSpPr>
        <p:spPr>
          <a:xfrm>
            <a:off x="1302026" y="365125"/>
            <a:ext cx="972047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5C4F"/>
              </a:buClr>
              <a:buSzPts val="4400"/>
              <a:buFont typeface="Arial"/>
              <a:buNone/>
            </a:pPr>
            <a:r>
              <a:rPr lang="en-US"/>
              <a:t>Approach	</a:t>
            </a:r>
            <a:endParaRPr/>
          </a:p>
        </p:txBody>
      </p:sp>
      <p:sp>
        <p:nvSpPr>
          <p:cNvPr id="92" name="Google Shape;92;p7"/>
          <p:cNvSpPr txBox="1"/>
          <p:nvPr>
            <p:ph idx="1" type="body"/>
          </p:nvPr>
        </p:nvSpPr>
        <p:spPr>
          <a:xfrm>
            <a:off x="1302024" y="1825625"/>
            <a:ext cx="972047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232"/>
              </a:buClr>
              <a:buSzPts val="2800"/>
              <a:buChar char="•"/>
            </a:pPr>
            <a:r>
              <a:rPr b="1" lang="en-US"/>
              <a:t>Preprocessing:</a:t>
            </a:r>
            <a:r>
              <a:rPr lang="en-US"/>
              <a:t> Standard steps: lowercasing, punctuation/URL removal, tokenization, stop word removal, lemmatization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232"/>
              </a:buClr>
              <a:buSzPts val="2800"/>
              <a:buChar char="•"/>
            </a:pPr>
            <a:r>
              <a:rPr b="1" lang="en-US"/>
              <a:t>Target Creation: </a:t>
            </a:r>
            <a:r>
              <a:rPr lang="en-US"/>
              <a:t>Continuous VADER scores (for aspects and overall) binned into 3 categories (negative[0], neutral[1], positive[2]) using fixed thresholds (-0.05, 0.05)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232"/>
              </a:buClr>
              <a:buSzPts val="2800"/>
              <a:buChar char="•"/>
            </a:pPr>
            <a:r>
              <a:rPr b="1" lang="en-US"/>
              <a:t>Models:</a:t>
            </a:r>
            <a:r>
              <a:rPr lang="en-US"/>
              <a:t>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232"/>
              </a:buClr>
              <a:buSzPts val="2400"/>
              <a:buChar char="•"/>
            </a:pPr>
            <a:r>
              <a:rPr b="1" lang="en-US"/>
              <a:t>Baseline: </a:t>
            </a:r>
            <a:r>
              <a:rPr lang="en-US"/>
              <a:t>TF-IDF (top 5K features) + Logistic regression using multioutput classifier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232"/>
              </a:buClr>
              <a:buSzPts val="2400"/>
              <a:buChar char="•"/>
            </a:pPr>
            <a:r>
              <a:rPr b="1" lang="en-US"/>
              <a:t>Advanced:</a:t>
            </a:r>
            <a:r>
              <a:rPr lang="en-US"/>
              <a:t> Fine-tuned DistillBERT with a modified classifier head for multi-output prediction (6 labels*3classes=18 outputs)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232"/>
              </a:buClr>
              <a:buSzPts val="2000"/>
              <a:buChar char="•"/>
            </a:pPr>
            <a:r>
              <a:rPr lang="en-US"/>
              <a:t>Trained with PyTorch, AdamW optimizer, CrossEntropyLoss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517d0721d7_0_0"/>
          <p:cNvSpPr txBox="1"/>
          <p:nvPr>
            <p:ph type="title"/>
          </p:nvPr>
        </p:nvSpPr>
        <p:spPr>
          <a:xfrm>
            <a:off x="1302026" y="365125"/>
            <a:ext cx="9720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5C4F"/>
              </a:buClr>
              <a:buSzPts val="4400"/>
              <a:buFont typeface="Arial"/>
              <a:buNone/>
            </a:pPr>
            <a:r>
              <a:rPr lang="en-US"/>
              <a:t>Approach	</a:t>
            </a:r>
            <a:endParaRPr/>
          </a:p>
        </p:txBody>
      </p:sp>
      <p:sp>
        <p:nvSpPr>
          <p:cNvPr id="98" name="Google Shape;98;g3517d0721d7_0_0"/>
          <p:cNvSpPr txBox="1"/>
          <p:nvPr>
            <p:ph idx="1" type="body"/>
          </p:nvPr>
        </p:nvSpPr>
        <p:spPr>
          <a:xfrm>
            <a:off x="1302024" y="1825625"/>
            <a:ext cx="9720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232"/>
              </a:buClr>
              <a:buSzPts val="2800"/>
              <a:buChar char="•"/>
            </a:pPr>
            <a:r>
              <a:rPr b="1" lang="en-US"/>
              <a:t>Further Validation/Corroboration:</a:t>
            </a:r>
            <a:endParaRPr b="1"/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We compared the same two models using data with human-labeled reviews for overall sentiment using the entire Yelp open dataset (to complement the proxy-labeled data using VADER)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/>
          <p:cNvSpPr txBox="1"/>
          <p:nvPr>
            <p:ph type="title"/>
          </p:nvPr>
        </p:nvSpPr>
        <p:spPr>
          <a:xfrm>
            <a:off x="1302026" y="365125"/>
            <a:ext cx="972047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5C4F"/>
              </a:buClr>
              <a:buSzPts val="4400"/>
              <a:buFont typeface="Arial"/>
              <a:buNone/>
            </a:pPr>
            <a:r>
              <a:rPr lang="en-US"/>
              <a:t>Experiment &amp; Results</a:t>
            </a:r>
            <a:endParaRPr/>
          </a:p>
        </p:txBody>
      </p:sp>
      <p:sp>
        <p:nvSpPr>
          <p:cNvPr id="104" name="Google Shape;104;p8"/>
          <p:cNvSpPr txBox="1"/>
          <p:nvPr>
            <p:ph idx="1" type="body"/>
          </p:nvPr>
        </p:nvSpPr>
        <p:spPr>
          <a:xfrm>
            <a:off x="1302024" y="1825625"/>
            <a:ext cx="972047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232"/>
              </a:buClr>
              <a:buSzPts val="2800"/>
              <a:buChar char="•"/>
            </a:pPr>
            <a:r>
              <a:rPr b="1" lang="en-US"/>
              <a:t>Dataset split:</a:t>
            </a:r>
            <a:r>
              <a:rPr lang="en-US"/>
              <a:t> 80% train (1,220,250 reviews), 20% test (305,063 reviews)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232"/>
              </a:buClr>
              <a:buSzPts val="2800"/>
              <a:buChar char="•"/>
            </a:pPr>
            <a:r>
              <a:rPr b="1" lang="en-US"/>
              <a:t>Baseline comparison: </a:t>
            </a:r>
            <a:r>
              <a:rPr lang="en-US"/>
              <a:t>TF-IDF + Logistic Regression against fine-tuned DistilBERT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232"/>
              </a:buClr>
              <a:buSzPts val="2800"/>
              <a:buChar char="•"/>
            </a:pPr>
            <a:r>
              <a:rPr b="1" lang="en-US"/>
              <a:t>Evaluation Metrics: </a:t>
            </a:r>
            <a:r>
              <a:rPr lang="en-US"/>
              <a:t>Precision, Recall, F1-Score (weighted), Accuracy per aspect and overall. Micro/Macro averages across all 6 labels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"/>
          <p:cNvSpPr txBox="1"/>
          <p:nvPr>
            <p:ph type="title"/>
          </p:nvPr>
        </p:nvSpPr>
        <p:spPr>
          <a:xfrm>
            <a:off x="1302026" y="365125"/>
            <a:ext cx="972047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5C4F"/>
              </a:buClr>
              <a:buSzPts val="4400"/>
              <a:buFont typeface="Arial"/>
              <a:buNone/>
            </a:pPr>
            <a:r>
              <a:rPr lang="en-US"/>
              <a:t>Experiment &amp; Results</a:t>
            </a:r>
            <a:endParaRPr/>
          </a:p>
        </p:txBody>
      </p:sp>
      <p:graphicFrame>
        <p:nvGraphicFramePr>
          <p:cNvPr id="111" name="Google Shape;111;p9"/>
          <p:cNvGraphicFramePr/>
          <p:nvPr/>
        </p:nvGraphicFramePr>
        <p:xfrm>
          <a:off x="1302235" y="26781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{AC091737-8193-4426-AB1A-7C32F44F8D11}</a:tableStyleId>
              </a:tblPr>
              <a:tblGrid>
                <a:gridCol w="2263075"/>
                <a:gridCol w="3692950"/>
                <a:gridCol w="37642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Aspect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Baseline Model (TF-IDF+LogReg)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Transformer Model (DistilBERT)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Food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0.80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0.87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Service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0.79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0.86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Ambiance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0.91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0.95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Price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0.93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0.96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Context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0.85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0.91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Overall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0.92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0.95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Micro Avg (All)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0.88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0.92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Macro Avg (All)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0.79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0.86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12" name="Google Shape;112;p9"/>
          <p:cNvSpPr txBox="1"/>
          <p:nvPr/>
        </p:nvSpPr>
        <p:spPr>
          <a:xfrm>
            <a:off x="1424277" y="1443466"/>
            <a:ext cx="9186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Quantitative Results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Weighted F1-Score on Test 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"/>
          <p:cNvSpPr txBox="1"/>
          <p:nvPr>
            <p:ph type="title"/>
          </p:nvPr>
        </p:nvSpPr>
        <p:spPr>
          <a:xfrm>
            <a:off x="1302026" y="365125"/>
            <a:ext cx="972047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5C4F"/>
              </a:buClr>
              <a:buSzPts val="4400"/>
              <a:buFont typeface="Arial"/>
              <a:buNone/>
            </a:pPr>
            <a:r>
              <a:rPr lang="en-US"/>
              <a:t>Experiment &amp; Results</a:t>
            </a:r>
            <a:endParaRPr/>
          </a:p>
        </p:txBody>
      </p:sp>
      <p:sp>
        <p:nvSpPr>
          <p:cNvPr id="119" name="Google Shape;119;p10"/>
          <p:cNvSpPr txBox="1"/>
          <p:nvPr>
            <p:ph idx="1" type="body"/>
          </p:nvPr>
        </p:nvSpPr>
        <p:spPr>
          <a:xfrm>
            <a:off x="1302024" y="1825625"/>
            <a:ext cx="972047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232"/>
              </a:buClr>
              <a:buSzPts val="2800"/>
              <a:buChar char="•"/>
            </a:pPr>
            <a:r>
              <a:rPr lang="en-US"/>
              <a:t>Error Analysis – The model distinguishes (+)/(-) for food and service well but struggles more with ambiance, price and context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232"/>
              </a:buClr>
              <a:buSzPts val="2400"/>
              <a:buChar char="•"/>
            </a:pPr>
            <a:r>
              <a:rPr lang="en-US"/>
              <a:t>Potentially due to fewer training examples in those categories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17d0721d7_0_23"/>
          <p:cNvSpPr txBox="1"/>
          <p:nvPr>
            <p:ph type="title"/>
          </p:nvPr>
        </p:nvSpPr>
        <p:spPr>
          <a:xfrm>
            <a:off x="1302026" y="365125"/>
            <a:ext cx="9720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5C4F"/>
              </a:buClr>
              <a:buSzPts val="4400"/>
              <a:buFont typeface="Arial"/>
              <a:buNone/>
            </a:pPr>
            <a:r>
              <a:rPr lang="en-US"/>
              <a:t>Experiment &amp; Results - Human-Labeled Data</a:t>
            </a:r>
            <a:endParaRPr/>
          </a:p>
        </p:txBody>
      </p:sp>
      <p:sp>
        <p:nvSpPr>
          <p:cNvPr id="126" name="Google Shape;126;g3517d0721d7_0_23"/>
          <p:cNvSpPr txBox="1"/>
          <p:nvPr/>
        </p:nvSpPr>
        <p:spPr>
          <a:xfrm>
            <a:off x="1424277" y="1443466"/>
            <a:ext cx="9186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Quantitative Results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g3517d0721d7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4275" y="2397775"/>
            <a:ext cx="5991375" cy="225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g3517d0721d7_0_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4275" y="4649075"/>
            <a:ext cx="5769999" cy="225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3517d0721d7_0_23"/>
          <p:cNvSpPr txBox="1"/>
          <p:nvPr/>
        </p:nvSpPr>
        <p:spPr>
          <a:xfrm>
            <a:off x="7675850" y="3298250"/>
            <a:ext cx="43479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E2F2D"/>
                </a:solidFill>
              </a:rPr>
              <a:t>These data report similar results to those seen with VADER-classified data. The transformer model also still appears superior.</a:t>
            </a:r>
            <a:endParaRPr sz="2800">
              <a:solidFill>
                <a:srgbClr val="2E2F2D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517d0721d7_0_15"/>
          <p:cNvSpPr txBox="1"/>
          <p:nvPr>
            <p:ph type="title"/>
          </p:nvPr>
        </p:nvSpPr>
        <p:spPr>
          <a:xfrm>
            <a:off x="1302026" y="365125"/>
            <a:ext cx="9720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5C4F"/>
              </a:buClr>
              <a:buSzPts val="4400"/>
              <a:buFont typeface="Arial"/>
              <a:buNone/>
            </a:pPr>
            <a:r>
              <a:rPr lang="en-US"/>
              <a:t>Experiment &amp; Results - Human-Labeled Data</a:t>
            </a:r>
            <a:endParaRPr/>
          </a:p>
        </p:txBody>
      </p:sp>
      <p:sp>
        <p:nvSpPr>
          <p:cNvPr id="136" name="Google Shape;136;g3517d0721d7_0_15"/>
          <p:cNvSpPr txBox="1"/>
          <p:nvPr>
            <p:ph idx="1" type="body"/>
          </p:nvPr>
        </p:nvSpPr>
        <p:spPr>
          <a:xfrm>
            <a:off x="1302024" y="1825625"/>
            <a:ext cx="9720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232"/>
              </a:buClr>
              <a:buSzPts val="2800"/>
              <a:buChar char="•"/>
            </a:pPr>
            <a:r>
              <a:t/>
            </a:r>
            <a:endParaRPr/>
          </a:p>
        </p:txBody>
      </p:sp>
      <p:pic>
        <p:nvPicPr>
          <p:cNvPr id="137" name="Google Shape;137;g3517d0721d7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2725" y="2289950"/>
            <a:ext cx="4599175" cy="382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g3517d0721d7_0_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4475" y="2385950"/>
            <a:ext cx="4435875" cy="3656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"/>
          <p:cNvSpPr txBox="1"/>
          <p:nvPr>
            <p:ph type="title"/>
          </p:nvPr>
        </p:nvSpPr>
        <p:spPr>
          <a:xfrm>
            <a:off x="1302026" y="365125"/>
            <a:ext cx="972047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5C4F"/>
              </a:buClr>
              <a:buSzPts val="4400"/>
              <a:buFont typeface="Arial"/>
              <a:buNone/>
            </a:pPr>
            <a:r>
              <a:rPr lang="en-US"/>
              <a:t>Demonstration</a:t>
            </a:r>
            <a:endParaRPr/>
          </a:p>
        </p:txBody>
      </p:sp>
      <p:sp>
        <p:nvSpPr>
          <p:cNvPr id="144" name="Google Shape;144;p11"/>
          <p:cNvSpPr txBox="1"/>
          <p:nvPr>
            <p:ph idx="1" type="body"/>
          </p:nvPr>
        </p:nvSpPr>
        <p:spPr>
          <a:xfrm>
            <a:off x="1302024" y="1825625"/>
            <a:ext cx="972047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232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45" name="Google Shape;14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078578"/>
            <a:ext cx="12192000" cy="2700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"/>
          <p:cNvSpPr txBox="1"/>
          <p:nvPr>
            <p:ph type="title"/>
          </p:nvPr>
        </p:nvSpPr>
        <p:spPr>
          <a:xfrm>
            <a:off x="1302026" y="365125"/>
            <a:ext cx="972047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5C4F"/>
              </a:buClr>
              <a:buSzPts val="4400"/>
              <a:buFont typeface="Arial"/>
              <a:buNone/>
            </a:pPr>
            <a:r>
              <a:rPr lang="en-US"/>
              <a:t>Conclusion &amp; Future Work</a:t>
            </a:r>
            <a:endParaRPr/>
          </a:p>
        </p:txBody>
      </p:sp>
      <p:sp>
        <p:nvSpPr>
          <p:cNvPr id="151" name="Google Shape;151;p12"/>
          <p:cNvSpPr txBox="1"/>
          <p:nvPr>
            <p:ph idx="1" type="body"/>
          </p:nvPr>
        </p:nvSpPr>
        <p:spPr>
          <a:xfrm>
            <a:off x="1302024" y="1825625"/>
            <a:ext cx="972047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232"/>
              </a:buClr>
              <a:buSzPts val="2800"/>
              <a:buChar char="•"/>
            </a:pPr>
            <a:r>
              <a:rPr lang="en-US"/>
              <a:t>Fine-tuned transformer models (DistilBERT) are highly effective for multi-aspect and overall sentiment classification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232"/>
              </a:buClr>
              <a:buSzPts val="2400"/>
              <a:buChar char="•"/>
            </a:pPr>
            <a:r>
              <a:rPr lang="en-US"/>
              <a:t>Significantly outperforms traditional methods like logistic regression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232"/>
              </a:buClr>
              <a:buSzPts val="2400"/>
              <a:buChar char="•"/>
            </a:pPr>
            <a:r>
              <a:rPr lang="en-US"/>
              <a:t>Granular and simultaneous overall analysis is feasible and valuable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232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"/>
          <p:cNvSpPr txBox="1"/>
          <p:nvPr>
            <p:ph type="title"/>
          </p:nvPr>
        </p:nvSpPr>
        <p:spPr>
          <a:xfrm>
            <a:off x="1302026" y="365125"/>
            <a:ext cx="972047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5C4F"/>
              </a:buClr>
              <a:buSzPts val="4400"/>
              <a:buFont typeface="Arial"/>
              <a:buNone/>
            </a:pPr>
            <a:r>
              <a:rPr lang="en-US"/>
              <a:t>Conclusion &amp; Future Work</a:t>
            </a:r>
            <a:endParaRPr/>
          </a:p>
        </p:txBody>
      </p:sp>
      <p:sp>
        <p:nvSpPr>
          <p:cNvPr id="157" name="Google Shape;157;p13"/>
          <p:cNvSpPr txBox="1"/>
          <p:nvPr>
            <p:ph idx="1" type="body"/>
          </p:nvPr>
        </p:nvSpPr>
        <p:spPr>
          <a:xfrm>
            <a:off x="1302024" y="1825625"/>
            <a:ext cx="972047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232"/>
              </a:buClr>
              <a:buSzPts val="2800"/>
              <a:buChar char="•"/>
            </a:pPr>
            <a:r>
              <a:rPr lang="en-US"/>
              <a:t>Future Ideas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232"/>
              </a:buClr>
              <a:buSzPts val="2400"/>
              <a:buChar char="•"/>
            </a:pPr>
            <a:r>
              <a:rPr lang="en-US"/>
              <a:t>Refine aspect keyword lists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232"/>
              </a:buClr>
              <a:buSzPts val="2400"/>
              <a:buChar char="•"/>
            </a:pPr>
            <a:r>
              <a:rPr lang="en-US"/>
              <a:t>Add more training data, especially for weaker categories (e.g. ambiance, price, context)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232"/>
              </a:buClr>
              <a:buSzPts val="2400"/>
              <a:buChar char="•"/>
            </a:pPr>
            <a:r>
              <a:rPr lang="en-US"/>
              <a:t>Hyperparameter tuning for the transformer model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232"/>
              </a:buClr>
              <a:buSzPts val="2400"/>
              <a:buChar char="•"/>
            </a:pPr>
            <a:r>
              <a:rPr lang="en-US"/>
              <a:t>Manual tuning of sentiment score cutoffs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232"/>
              </a:buClr>
              <a:buSzPts val="2400"/>
              <a:buChar char="•"/>
            </a:pPr>
            <a:r>
              <a:rPr lang="en-US"/>
              <a:t>Possibly explore explainability techniques (LIME, SHAP) to understand model decisions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232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"/>
          <p:cNvSpPr txBox="1"/>
          <p:nvPr>
            <p:ph type="title"/>
          </p:nvPr>
        </p:nvSpPr>
        <p:spPr>
          <a:xfrm>
            <a:off x="1302026" y="365125"/>
            <a:ext cx="972047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5C4F"/>
              </a:buClr>
              <a:buSzPts val="4400"/>
              <a:buFont typeface="Arial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163" name="Google Shape;163;p14"/>
          <p:cNvSpPr txBox="1"/>
          <p:nvPr>
            <p:ph idx="1" type="body"/>
          </p:nvPr>
        </p:nvSpPr>
        <p:spPr>
          <a:xfrm>
            <a:off x="1302024" y="1825625"/>
            <a:ext cx="972047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Play"/>
              <a:buAutoNum type="arabicPeriod"/>
            </a:pP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Akhtar, Z., Ahmad, T., Khan, M. A., &amp; Ul Abidin, S. Z. (2024). Explainable Aspect-Based Sentiment Analysis Using Transformer Models. </a:t>
            </a:r>
            <a:r>
              <a:rPr b="0" i="1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Applied Sciences</a:t>
            </a: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(11), 141.</a:t>
            </a:r>
            <a:r>
              <a:rPr b="0" i="0" lang="en-US" sz="1800" u="sng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1800" u="sng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https://www.mdpi.com/2504-2289/8/11/141</a:t>
            </a:r>
            <a:endParaRPr b="0" i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Play"/>
              <a:buAutoNum type="arabicPeriod"/>
            </a:pP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Al-Twairesh, N., &amp; Al-Khalifa, H. (2021). Sentiment classification and aspect-based sentiment analysis on yelp reviews using deep learning and word embeddings. </a:t>
            </a:r>
            <a:r>
              <a:rPr b="0" i="1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Journal of Decision Systems</a:t>
            </a: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(2-3), 226-252.</a:t>
            </a:r>
            <a:r>
              <a:rPr b="0" i="0" lang="en-US" sz="1800" u="sng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1800" u="sng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https://www.tandfonline.com/doi/abs/10.1080/12460125.2020.1864106</a:t>
            </a:r>
            <a:endParaRPr b="0" i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Play"/>
              <a:buAutoNum type="arabicPeriod"/>
            </a:pP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Duan, T. (2018). </a:t>
            </a:r>
            <a:r>
              <a:rPr b="0" i="1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Aspect-based Opinion Mining with Yelp Restaurant Reviews</a:t>
            </a: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Duke University Statistical Science Theses.</a:t>
            </a:r>
            <a:r>
              <a:rPr b="0" i="0" lang="en-US" sz="1800" u="sng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1800" u="sng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https://dukestatsci.github.io/thesis-sp18-duan-sentiment/</a:t>
            </a:r>
            <a:endParaRPr b="0" i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Play"/>
              <a:buAutoNum type="arabicPeriod"/>
            </a:pP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Gan, Q., Ferns, B.H., Yu, Y., Jin, L (2016). A text mining and multidimensional sentiment analysis of online restaurant reviews. </a:t>
            </a:r>
            <a:r>
              <a:rPr b="0" i="1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Journal of Quality Assurance in Hospitality and Tourism</a:t>
            </a: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1800" u="sng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https://www.tandfonline.com/doi/abs/10.1080/1528008X.2016.1250243?casa_token=3343pqRoCCwAAAAA:nULDsc5QgFROIP2shCOffBtXiwK_DoOktl2cm0OvD5CdNiU9nCmnH_mOKjlzP-yrIPv5Cfo4SSoumw</a:t>
            </a: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Play"/>
              <a:buAutoNum type="arabicPeriod"/>
            </a:pP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Musa, A., Adam, F. M., Ibrahim, U., &amp; Zandam, A. Y. (2024). HauBert: A transformer Model for Aspect-based Sentiment Analysis of Hausa-Language movie reviews. </a:t>
            </a:r>
            <a:r>
              <a:rPr b="0" i="1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Proceedings of the 5th International Electronic Conference on Applied Sciences</a:t>
            </a: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1800" u="sng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1800" u="sng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https://sciforum.net/paper/view/20914</a:t>
            </a:r>
            <a:endParaRPr b="0" i="0" sz="1800" u="sng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Play"/>
              <a:buAutoNum type="arabicPeriod"/>
            </a:pP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Peng, G. (2020). </a:t>
            </a:r>
            <a:r>
              <a:rPr b="0" i="1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Aspect Based Rating Prediction For Yelp Customer Review</a:t>
            </a: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Master's Paper, University of North Carolina at Chapel Hill.</a:t>
            </a:r>
            <a:r>
              <a:rPr b="0" i="0" lang="en-US" sz="1800" u="sng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1800" u="sng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https://cdr.lib.unc.edu/downloads/4f16c8090?locale=en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"/>
          <p:cNvSpPr txBox="1"/>
          <p:nvPr>
            <p:ph type="title"/>
          </p:nvPr>
        </p:nvSpPr>
        <p:spPr>
          <a:xfrm>
            <a:off x="1302026" y="365125"/>
            <a:ext cx="972047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5C4F"/>
              </a:buClr>
              <a:buSzPts val="4400"/>
              <a:buFont typeface="Arial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169" name="Google Shape;169;p15"/>
          <p:cNvSpPr txBox="1"/>
          <p:nvPr>
            <p:ph idx="1" type="body"/>
          </p:nvPr>
        </p:nvSpPr>
        <p:spPr>
          <a:xfrm>
            <a:off x="1302024" y="1825625"/>
            <a:ext cx="972047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232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descr="How many 3 star Michelin restaurants in the world?" id="170" name="Google Shape;170;p15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How many 3 star Michelin restaurants in the world?" id="171" name="Google Shape;171;p15"/>
          <p:cNvSpPr/>
          <p:nvPr/>
        </p:nvSpPr>
        <p:spPr>
          <a:xfrm>
            <a:off x="6096000" y="3429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How many 3 star Michelin restaurants in the world?" id="172" name="Google Shape;172;p15"/>
          <p:cNvSpPr/>
          <p:nvPr/>
        </p:nvSpPr>
        <p:spPr>
          <a:xfrm>
            <a:off x="2579550" y="3033989"/>
            <a:ext cx="195279" cy="195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ating A $3,000 Michelin Star Dinner - YouTube" id="173" name="Google Shape;17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363" y="1814572"/>
            <a:ext cx="6476101" cy="36439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420+ Young Woman Two Thumbs Up Stock Photos, Pictures &amp; Royalty-Free Images  - iStock" id="174" name="Google Shape;17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01464" y="1831181"/>
            <a:ext cx="4352908" cy="3805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2025-03-28T13:16:58Z</dcterms:created>
  <dc:creator>Aaron Dumont</dc:creator>
</cp:coreProperties>
</file>